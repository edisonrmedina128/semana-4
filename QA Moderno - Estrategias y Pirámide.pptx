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  <p:embeddedFont>
      <p:font typeface="Urbanist ExtraBold"/>
      <p:bold r:id="rId35"/>
      <p:boldItalic r:id="rId36"/>
    </p:embeddedFont>
    <p:embeddedFont>
      <p:font typeface="Poppins ExtraBold"/>
      <p:bold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Urbanist-italic.fntdata"/><Relationship Id="rId10" Type="http://schemas.openxmlformats.org/officeDocument/2006/relationships/slide" Target="slides/slide5.xml"/><Relationship Id="rId32" Type="http://schemas.openxmlformats.org/officeDocument/2006/relationships/font" Target="fonts/Urbanist-bold.fntdata"/><Relationship Id="rId13" Type="http://schemas.openxmlformats.org/officeDocument/2006/relationships/slide" Target="slides/slide8.xml"/><Relationship Id="rId35" Type="http://schemas.openxmlformats.org/officeDocument/2006/relationships/font" Target="fonts/UrbanistExtraBold-bold.fntdata"/><Relationship Id="rId12" Type="http://schemas.openxmlformats.org/officeDocument/2006/relationships/slide" Target="slides/slide7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ExtraBold-bold.fntdata"/><Relationship Id="rId14" Type="http://schemas.openxmlformats.org/officeDocument/2006/relationships/slide" Target="slides/slide9.xml"/><Relationship Id="rId36" Type="http://schemas.openxmlformats.org/officeDocument/2006/relationships/font" Target="fonts/UrbanistExtra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oppinsExtra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f2f7b57d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cf2f7b57d2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f2f7b57d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cf2f7b57d2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f2f7b57d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cf2f7b57d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46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43000" y="1610766"/>
            <a:ext cx="104775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6600"/>
                </a:solidFill>
                <a:latin typeface="Urbanist"/>
                <a:ea typeface="Urbanist"/>
                <a:cs typeface="Urbanist"/>
                <a:sym typeface="Urbanist"/>
              </a:rPr>
              <a:t>QA MODERNO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43000" y="2079277"/>
            <a:ext cx="11001375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Estrategias y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75" u="none" cap="none" strike="noStrike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rPr>
              <a:t>Pirámide de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75" u="none" cap="none" strike="noStrike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rPr>
              <a:t> Automatización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4793902"/>
            <a:ext cx="104775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Automatización Escalable | </a:t>
            </a:r>
            <a:r>
              <a:rPr b="1" i="0" lang="en-US" sz="25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Edison Reinoso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84984"/>
            <a:ext cx="5286375" cy="1962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Problemas en la Industria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01066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rPr>
              <a:t>Software &gt; Pruebas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705992"/>
            <a:ext cx="5286375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 software evoluciona más rápido de lo que los equipos pueden probar manualmente.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1066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81075" y="4018359"/>
            <a:ext cx="45434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Consecuencias: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81075" y="4433589"/>
            <a:ext cx="45434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• Retrasos en releases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• Bugs críticos en producción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• Ciclos de testing lentos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075" y="4056459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89745"/>
            <a:ext cx="5286375" cy="28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Error Muy Común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1750" y="2963019"/>
            <a:ext cx="12858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39340" y="4296519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Automatizar todo en UI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67500" y="2870745"/>
            <a:ext cx="48506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Impacto Negativo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143750" y="3413670"/>
            <a:ext cx="4143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Lento: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Carga de navegador y renderizado.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143750" y="3945135"/>
            <a:ext cx="4143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Frágil: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Cambios en HTML rompen tests.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143750" y="4476601"/>
            <a:ext cx="4143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Mantenimiento: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Muy costoso de escalar.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345653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3987998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0" y="451946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075" y="-1387650"/>
            <a:ext cx="11931926" cy="8762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48037"/>
            <a:ext cx="11049000" cy="155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4990"/>
            <a:ext cx="11049000" cy="2226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91905"/>
            <a:ext cx="11049000" cy="2226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98900" y="-474985"/>
            <a:ext cx="1135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Estrategia de Automatización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60775" y="-474985"/>
            <a:ext cx="95400" cy="544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81075" y="7233195"/>
            <a:ext cx="103060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Objetivo: Máxima cobertura con mínimo costo.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895350"/>
            <a:ext cx="10901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 probar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04875" y="1438275"/>
            <a:ext cx="10382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Partes críticas y flujos de alto valor.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04875" y="3122265"/>
            <a:ext cx="10901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Dónde probar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3665190"/>
            <a:ext cx="10382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Niveles correctos (Unit, API, UI).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04875" y="5349180"/>
            <a:ext cx="10901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Cómo automatizar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04875" y="5892105"/>
            <a:ext cx="10382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Herramientas y frameworks robustos.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4953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247456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4701480"/>
            <a:ext cx="4000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4011" y="2064989"/>
            <a:ext cx="2303995" cy="830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6580" y="3013868"/>
            <a:ext cx="4278847" cy="830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4578" y="3962746"/>
            <a:ext cx="6582843" cy="83026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Pirámide de Automatización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4835"/>
            <a:ext cx="11049000" cy="47416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Distribución Recomendada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ROI: Return on Investment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201066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rPr>
              <a:t>Automatizar NO es gratis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2705992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Requiere una inversión constante en: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066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047750" y="3189833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Desarrollo de scripts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047750" y="372129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Mantenimiento continuo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047750" y="4252763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Infraestructura / Pipeline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269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641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9562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9282"/>
            <a:ext cx="5381625" cy="2226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399282"/>
            <a:ext cx="5381625" cy="2226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11947"/>
            <a:ext cx="538162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911947"/>
            <a:ext cx="5381625" cy="25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09625" y="425946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Cuándo Automatizar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425946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04875" y="2456557"/>
            <a:ext cx="49506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Repetitividad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04875" y="2999482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Pruebas que se ejecutan en cada release o deploy.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572250" y="2456557"/>
            <a:ext cx="49506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Alto Riesgo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572250" y="2999482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Funcionalidades críticas del negocio (Pagos, Auth).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04875" y="4969222"/>
            <a:ext cx="49506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04875" y="5512147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Asegurar que lo nuevo no rompa lo que ya funciona.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572250" y="4969222"/>
            <a:ext cx="49506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Frecuencia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572250" y="5512147"/>
            <a:ext cx="47148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Tests de alto retorno que ahorran horas de trabajo manual.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180885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180885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432152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4321522"/>
            <a:ext cx="4000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55602"/>
            <a:ext cx="5286375" cy="152013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Cuándo NO Automatizar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981075" y="3488977"/>
            <a:ext cx="4543425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Evitar si el costo es mayor que el beneficio: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810375" y="285273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Pruebas exploratorias (Humanas).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810375" y="338420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Funcionalidades temporales.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810375" y="391566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Interfaces muy inestables.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810375" y="4447133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Bugs de una sola vez.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956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427065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9585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48999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38218"/>
            <a:ext cx="12192000" cy="8296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5369"/>
            <a:ext cx="11049000" cy="2226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02284"/>
            <a:ext cx="11049000" cy="2226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29200"/>
            <a:ext cx="11049000" cy="222691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809625" y="-397966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Tres Enfoques Principales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-397966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904875" y="1632644"/>
            <a:ext cx="10901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Code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04875" y="2175569"/>
            <a:ext cx="10382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Cero programación. Interfaces visuales.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04875" y="3859559"/>
            <a:ext cx="10901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 Code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04875" y="4402484"/>
            <a:ext cx="10382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 + Scripts simples de configuración.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04875" y="6086475"/>
            <a:ext cx="10901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Code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04875" y="6629400"/>
            <a:ext cx="1038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Desarrollo completo. Máxima flexibilidad.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984944"/>
            <a:ext cx="2476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3211859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5438775"/>
            <a:ext cx="50482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Enfoque No Code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610200" y="2598530"/>
            <a:ext cx="5286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6600"/>
                </a:solidFill>
                <a:latin typeface="Urbanist"/>
                <a:ea typeface="Urbanist"/>
                <a:cs typeface="Urbanist"/>
                <a:sym typeface="Urbanist"/>
              </a:rPr>
              <a:t>Automatización sin programación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10200" y="3135651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Ideal para equipos funcionales. Permite grabar interacciones y configurar flujos visualmente.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10200" y="3912832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Herramientas: Tricentis Tosca, TestProject.</a:t>
            </a:r>
            <a:endParaRPr/>
          </a:p>
        </p:txBody>
      </p:sp>
      <p:pic>
        <p:nvPicPr>
          <p:cNvPr id="242" name="Google Shape;2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8650" y="2203413"/>
            <a:ext cx="4040050" cy="16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7650" y="3595409"/>
            <a:ext cx="6022050" cy="1059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/>
        </p:nvSpPr>
        <p:spPr>
          <a:xfrm>
            <a:off x="715300" y="113400"/>
            <a:ext cx="1135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Tricentis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477175" y="113400"/>
            <a:ext cx="95400" cy="544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663" y="940400"/>
            <a:ext cx="8854676" cy="553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Enfoque Low Code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6297300" y="2370405"/>
            <a:ext cx="5286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6600"/>
                </a:solidFill>
                <a:latin typeface="Urbanist"/>
                <a:ea typeface="Urbanist"/>
                <a:cs typeface="Urbanist"/>
                <a:sym typeface="Urbanist"/>
              </a:rPr>
              <a:t>El equilibrio perfecto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6297300" y="2907526"/>
            <a:ext cx="5286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Combina interfaces visuales con la potencia de scripts personalizados. Permite colaboración entre perfiles funcionales y técnicos.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6297300" y="3978047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Facilidad de uso + Escalabilidad.</a:t>
            </a:r>
            <a:endParaRPr/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4">
            <a:alphaModFix/>
          </a:blip>
          <a:srcRect b="29245" l="11106" r="9793" t="27987"/>
          <a:stretch/>
        </p:blipFill>
        <p:spPr>
          <a:xfrm>
            <a:off x="1538000" y="2370413"/>
            <a:ext cx="2829425" cy="114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/>
          <p:cNvPicPr preferRelativeResize="0"/>
          <p:nvPr/>
        </p:nvPicPr>
        <p:blipFill rotWithShape="1">
          <a:blip r:embed="rId5">
            <a:alphaModFix/>
          </a:blip>
          <a:srcRect b="32551" l="3463" r="1921" t="28605"/>
          <a:stretch/>
        </p:blipFill>
        <p:spPr>
          <a:xfrm>
            <a:off x="716125" y="3517713"/>
            <a:ext cx="4500126" cy="96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/>
        </p:nvSpPr>
        <p:spPr>
          <a:xfrm>
            <a:off x="715300" y="113400"/>
            <a:ext cx="1135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 Cafe</a:t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477175" y="113400"/>
            <a:ext cx="95400" cy="544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4507" r="0" t="0"/>
          <a:stretch/>
        </p:blipFill>
        <p:spPr>
          <a:xfrm>
            <a:off x="477175" y="1068175"/>
            <a:ext cx="11351401" cy="535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Enfoque High Code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571500" y="571500"/>
            <a:ext cx="95250" cy="54471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497125" y="2539755"/>
            <a:ext cx="5286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6600"/>
                </a:solidFill>
                <a:latin typeface="Urbanist"/>
                <a:ea typeface="Urbanist"/>
                <a:cs typeface="Urbanist"/>
                <a:sym typeface="Urbanist"/>
              </a:rPr>
              <a:t>Máxima Robustez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497125" y="3076876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Control total sobre el código. Aplicación de patrones de diseño (POM, Screenplay) y frameworks potentes.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497125" y="3854057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Herramientas: Selenium, Playwright, Cypress.</a:t>
            </a:r>
            <a:endParaRPr/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4">
            <a:alphaModFix/>
          </a:blip>
          <a:srcRect b="35354" l="17180" r="67732" t="34914"/>
          <a:stretch/>
        </p:blipFill>
        <p:spPr>
          <a:xfrm>
            <a:off x="6337425" y="2539763"/>
            <a:ext cx="1724601" cy="177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7191" y="2539762"/>
            <a:ext cx="3397683" cy="17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/>
        </p:nvSpPr>
        <p:spPr>
          <a:xfrm>
            <a:off x="715300" y="113400"/>
            <a:ext cx="1135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Cypress vs Selenium</a:t>
            </a:r>
            <a:endParaRPr/>
          </a:p>
        </p:txBody>
      </p:sp>
      <p:sp>
        <p:nvSpPr>
          <p:cNvPr id="287" name="Google Shape;287;p28"/>
          <p:cNvSpPr/>
          <p:nvPr/>
        </p:nvSpPr>
        <p:spPr>
          <a:xfrm>
            <a:off x="477175" y="113400"/>
            <a:ext cx="95400" cy="544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3447" r="14078" t="11135"/>
          <a:stretch/>
        </p:blipFill>
        <p:spPr>
          <a:xfrm>
            <a:off x="733113" y="834300"/>
            <a:ext cx="5092974" cy="518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8"/>
          <p:cNvPicPr preferRelativeResize="0"/>
          <p:nvPr/>
        </p:nvPicPr>
        <p:blipFill rotWithShape="1">
          <a:blip r:embed="rId4">
            <a:alphaModFix/>
          </a:blip>
          <a:srcRect b="0" l="0" r="26997" t="0"/>
          <a:stretch/>
        </p:blipFill>
        <p:spPr>
          <a:xfrm>
            <a:off x="6010663" y="834300"/>
            <a:ext cx="5448213" cy="51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600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/>
        </p:nvSpPr>
        <p:spPr>
          <a:xfrm>
            <a:off x="1809750" y="3154709"/>
            <a:ext cx="85725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"La automatización efectiva no depende de la herramienta, sino de la estrategia, la pirámide y el ROI."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571500" y="4579590"/>
            <a:ext cx="1104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¡MUCHAS GRACIAS!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295275" y="1840259"/>
            <a:ext cx="11601600" cy="10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Estrategia = Éxito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